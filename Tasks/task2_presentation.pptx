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54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Unlocking Customer Value: A Data-Driven Approach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Sprocket Central Pty Ltd aims to identify its most valuable customers for targeted marketing initiatives. This presentation outlines our analytical approach to pinpoint the top 1000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48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3616" y="461367"/>
            <a:ext cx="7969567" cy="104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1: Data Exploration &amp; Quality Assurance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073616" y="1761411"/>
            <a:ext cx="7969567" cy="1280755"/>
          </a:xfrm>
          <a:prstGeom prst="roundRect">
            <a:avLst>
              <a:gd name="adj" fmla="val 196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96476" y="1784271"/>
            <a:ext cx="671155" cy="1235035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6306264" y="2244447"/>
            <a:ext cx="251579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35391" y="1952030"/>
            <a:ext cx="2097405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Acquisition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935391" y="2314813"/>
            <a:ext cx="691717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utilized four key datasets: Transactions, Customer Demographic, Customer Address, and a New Customer List to form a comprehensive customer view.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73616" y="3209925"/>
            <a:ext cx="7969567" cy="1280755"/>
          </a:xfrm>
          <a:prstGeom prst="roundRect">
            <a:avLst>
              <a:gd name="adj" fmla="val 196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476" y="3232785"/>
            <a:ext cx="671155" cy="1235035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306264" y="3692962"/>
            <a:ext cx="251579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935391" y="3400544"/>
            <a:ext cx="2482453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Consistency Checks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935391" y="3763328"/>
            <a:ext cx="691717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Rigorous checks were performed for consistency, completeness, and validity across all datasets to ensure data reliability.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73616" y="4658439"/>
            <a:ext cx="7969567" cy="1666518"/>
          </a:xfrm>
          <a:prstGeom prst="roundRect">
            <a:avLst>
              <a:gd name="adj" fmla="val 1510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96476" y="4681299"/>
            <a:ext cx="671155" cy="1620798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6" name="Text 13"/>
          <p:cNvSpPr/>
          <p:nvPr/>
        </p:nvSpPr>
        <p:spPr>
          <a:xfrm>
            <a:off x="6306264" y="5334357"/>
            <a:ext cx="251579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935391" y="4849058"/>
            <a:ext cx="2097405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Quality Issues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935391" y="5211842"/>
            <a:ext cx="6917174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 in demographics and transactions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35391" y="5538907"/>
            <a:ext cx="6917174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Inconsistent gender entries (M, F, Male, Female)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35391" y="5865971"/>
            <a:ext cx="6917174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Invalid date formats and irrelevant default columns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73616" y="6492716"/>
            <a:ext cx="7969567" cy="1280755"/>
          </a:xfrm>
          <a:prstGeom prst="roundRect">
            <a:avLst>
              <a:gd name="adj" fmla="val 1965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96476" y="6515576"/>
            <a:ext cx="671155" cy="1235035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23" name="Text 20"/>
          <p:cNvSpPr/>
          <p:nvPr/>
        </p:nvSpPr>
        <p:spPr>
          <a:xfrm>
            <a:off x="6306264" y="6975753"/>
            <a:ext cx="251579" cy="314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6935391" y="6683335"/>
            <a:ext cx="319920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Cleaning &amp; Standardization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6935391" y="7046119"/>
            <a:ext cx="6917174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Corrections included standardizing data types (dates, numbers) and resolving inconsistencies, primarily using Microsoft Excel.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0840522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2: Model Development - RFM Analysis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the Transactions dataset, we engineered two critical features: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770346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Recency: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Days since the last transaction, calculated from a comparison date.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502343"/>
            <a:ext cx="6342102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Derived as the difference between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list_price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6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standard_cost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4398764"/>
            <a:ext cx="2725341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Aggregation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1638" y="492704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Pivot Table was used to aggregate customer-level data, including: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544246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Count of product IDs per customer.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584454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Monetary Value: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Sum of profit per customer.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6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3363992"/>
            <a:ext cx="10982444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RFM Scoring: Quantifying Customer Value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644" y="4383643"/>
            <a:ext cx="6433304" cy="661392"/>
          </a:xfrm>
          <a:prstGeom prst="roundRect">
            <a:avLst>
              <a:gd name="adj" fmla="val 480075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3822978" y="4507587"/>
            <a:ext cx="330637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92029" y="5265420"/>
            <a:ext cx="2956560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Individual RFM Scores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92029" y="5742146"/>
            <a:ext cx="5992535" cy="105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Recency (R), Frequency (F), and Monetary (M) scores were calculated using quantiles, ranging from 1 (lowest) to 4 (highest).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5333" y="4383643"/>
            <a:ext cx="6433423" cy="661392"/>
          </a:xfrm>
          <a:prstGeom prst="roundRect">
            <a:avLst>
              <a:gd name="adj" fmla="val 480075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10476667" y="4507587"/>
            <a:ext cx="330637" cy="413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45718" y="5265420"/>
            <a:ext cx="27967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Combined RFM Score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645718" y="5742146"/>
            <a:ext cx="5992654" cy="72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weighted formula combined these scores: </a:t>
            </a: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RFM Score = (100 × R score) + (10 × F score) + M score</a:t>
            </a: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1644" y="7268885"/>
            <a:ext cx="13087112" cy="35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model allows us to assign a precise numerical value to each customer based on their transactional behavior.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9644E-2BCF-F57A-02EC-995C657C7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97" y="1732603"/>
            <a:ext cx="5538587" cy="5423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1CD305-714D-EA48-70EF-2A47DACA0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877" y="1445672"/>
            <a:ext cx="2176846" cy="6189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D24EC5-1B95-64F8-B9E5-F9AA69EF83B7}"/>
              </a:ext>
            </a:extLst>
          </p:cNvPr>
          <p:cNvSpPr txBox="1"/>
          <p:nvPr/>
        </p:nvSpPr>
        <p:spPr>
          <a:xfrm>
            <a:off x="1450428" y="867183"/>
            <a:ext cx="7315200" cy="472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Individual RFM Scores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C89BC-DDC1-C2B6-0EDF-A9AFC7B024BF}"/>
              </a:ext>
            </a:extLst>
          </p:cNvPr>
          <p:cNvSpPr txBox="1"/>
          <p:nvPr/>
        </p:nvSpPr>
        <p:spPr>
          <a:xfrm>
            <a:off x="8529146" y="691237"/>
            <a:ext cx="5470634" cy="472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Combined RFM Score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8764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440" y="518993"/>
            <a:ext cx="7823121" cy="117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3: Interpretation &amp; 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0440" y="1981438"/>
            <a:ext cx="7823121" cy="1087398"/>
          </a:xfrm>
          <a:prstGeom prst="roundRect">
            <a:avLst>
              <a:gd name="adj" fmla="val 41655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849154" y="2170152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Bronze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9154" y="2578179"/>
            <a:ext cx="744569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RFM scores, occasional purchasers.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0440" y="3257550"/>
            <a:ext cx="7823121" cy="1087398"/>
          </a:xfrm>
          <a:prstGeom prst="roundRect">
            <a:avLst>
              <a:gd name="adj" fmla="val 41655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849154" y="3446264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Silver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49154" y="3854291"/>
            <a:ext cx="744569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Mid-range RFM, more regular engagement.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0440" y="4533662"/>
            <a:ext cx="7823121" cy="1087398"/>
          </a:xfrm>
          <a:prstGeom prst="roundRect">
            <a:avLst>
              <a:gd name="adj" fmla="val 41655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849154" y="4722376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Gold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49154" y="5130403"/>
            <a:ext cx="744569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RFM scores, frequent and valuable customers.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0440" y="5809774"/>
            <a:ext cx="7823121" cy="1087398"/>
          </a:xfrm>
          <a:prstGeom prst="roundRect">
            <a:avLst>
              <a:gd name="adj" fmla="val 41655"/>
            </a:avLst>
          </a:prstGeom>
          <a:solidFill>
            <a:srgbClr val="3F4652"/>
          </a:solidFill>
          <a:ln/>
        </p:spPr>
      </p:sp>
      <p:sp>
        <p:nvSpPr>
          <p:cNvPr id="14" name="Text 11"/>
          <p:cNvSpPr/>
          <p:nvPr/>
        </p:nvSpPr>
        <p:spPr>
          <a:xfrm>
            <a:off x="849154" y="5998488"/>
            <a:ext cx="235910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Platinum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49154" y="6406515"/>
            <a:ext cx="7445693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RFM scores, our most valuable customers.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0440" y="7109460"/>
            <a:ext cx="7823121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were segmented into Bronze, Silver, Gold, and Platinum based on their RFM score quantiles. The Platinum segment represents our highest-value customers.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2A8F3-7F67-0066-2C24-33DB1F5C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31" y="2576895"/>
            <a:ext cx="2933456" cy="38181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09E4A-E7BF-0EC7-CB40-FCF3A753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861" y="2971034"/>
            <a:ext cx="7560008" cy="28940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AE3A6B-010B-F185-5D6A-33388C12C75B}"/>
              </a:ext>
            </a:extLst>
          </p:cNvPr>
          <p:cNvSpPr txBox="1"/>
          <p:nvPr/>
        </p:nvSpPr>
        <p:spPr>
          <a:xfrm>
            <a:off x="945931" y="1658612"/>
            <a:ext cx="4114800" cy="472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Title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57AA5-1497-7174-F086-599EA4E94672}"/>
              </a:ext>
            </a:extLst>
          </p:cNvPr>
          <p:cNvSpPr txBox="1"/>
          <p:nvPr/>
        </p:nvSpPr>
        <p:spPr>
          <a:xfrm>
            <a:off x="7488620" y="1894702"/>
            <a:ext cx="4855780" cy="45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3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Quantiles and scoring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58016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591979"/>
            <a:ext cx="9306520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Conclusion: Identifying Our Top 1000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3427" y="1802844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Targeted Selection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3427" y="2354461"/>
            <a:ext cx="7664053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 Excel visualizations and ranking, the top 1000 customers were precisely identified from the Platinum segment.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3427" y="3258383"/>
            <a:ext cx="2690812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Impact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3427" y="3810000"/>
            <a:ext cx="7664053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data-driven approach enables Sprocket Central Pty Ltd to focus marketing efforts on high-value customers, maximizing ROI.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3427" y="4713923"/>
            <a:ext cx="2928818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Scalability &amp; Efficiency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3427" y="5265539"/>
            <a:ext cx="7664053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methodology is easily scalable and implementable using standard tools like Excel, offering a robust framework for future analyses.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166" y="1829753"/>
            <a:ext cx="4934307" cy="49343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3427" y="7248406"/>
            <a:ext cx="13123545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leveraging structured data cleaning, RFM analysis, and effective visualization, we have successfully pinpointed the most valuable customers for targeted marketing initiatives.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505</Words>
  <Application>Microsoft Office PowerPoint</Application>
  <PresentationFormat>Custom</PresentationFormat>
  <Paragraphs>62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Slab</vt:lpstr>
      <vt:lpstr>Consolas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Abdullah Arshad</cp:lastModifiedBy>
  <cp:revision>3</cp:revision>
  <dcterms:created xsi:type="dcterms:W3CDTF">2025-12-21T15:56:07Z</dcterms:created>
  <dcterms:modified xsi:type="dcterms:W3CDTF">2025-12-21T16:04:45Z</dcterms:modified>
</cp:coreProperties>
</file>